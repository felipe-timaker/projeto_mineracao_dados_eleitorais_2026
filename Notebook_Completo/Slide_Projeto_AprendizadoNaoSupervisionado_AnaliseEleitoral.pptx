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18288000" cy="10287000"/>
  <p:notesSz cx="6858000" cy="9144000"/>
  <p:embeddedFontLst>
    <p:embeddedFont>
      <p:font typeface="Lexend Deca" charset="1" panose="00000000000000000000"/>
      <p:regular r:id="rId35"/>
    </p:embeddedFont>
    <p:embeddedFont>
      <p:font typeface="Clear Sans" charset="1" panose="020B0503030202020304"/>
      <p:regular r:id="rId36"/>
    </p:embeddedFont>
    <p:embeddedFont>
      <p:font typeface="Clear Sans Light" charset="1" panose="020B0303030202020304"/>
      <p:regular r:id="rId37"/>
    </p:embeddedFont>
    <p:embeddedFont>
      <p:font typeface="Clear Sans Bold" charset="1" panose="020B0803030202020304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36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794184" y="9239250"/>
            <a:ext cx="10512698" cy="9525"/>
          </a:xfrm>
          <a:prstGeom prst="line">
            <a:avLst/>
          </a:prstGeom>
          <a:ln cap="rnd" w="95250">
            <a:solidFill>
              <a:srgbClr val="FFC74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990685" y="962025"/>
            <a:ext cx="10708149" cy="19050"/>
          </a:xfrm>
          <a:prstGeom prst="line">
            <a:avLst/>
          </a:prstGeom>
          <a:ln cap="rnd" w="95250">
            <a:solidFill>
              <a:srgbClr val="FFC74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17254494" y="7126927"/>
            <a:ext cx="0" cy="2131373"/>
          </a:xfrm>
          <a:prstGeom prst="line">
            <a:avLst/>
          </a:prstGeom>
          <a:ln cap="rnd" w="95250">
            <a:solidFill>
              <a:srgbClr val="FFC74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5400000">
            <a:off x="15139860" y="5215145"/>
            <a:ext cx="3526257" cy="807787"/>
          </a:xfrm>
          <a:custGeom>
            <a:avLst/>
            <a:gdLst/>
            <a:ahLst/>
            <a:cxnLst/>
            <a:rect r="r" b="b" t="t" l="l"/>
            <a:pathLst>
              <a:path h="807787" w="3526257">
                <a:moveTo>
                  <a:pt x="0" y="0"/>
                </a:moveTo>
                <a:lnTo>
                  <a:pt x="3526257" y="0"/>
                </a:lnTo>
                <a:lnTo>
                  <a:pt x="3526257" y="807787"/>
                </a:lnTo>
                <a:lnTo>
                  <a:pt x="0" y="8077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64295"/>
            </a:stretch>
          </a:blipFill>
        </p:spPr>
      </p:sp>
      <p:sp>
        <p:nvSpPr>
          <p:cNvPr name="AutoShape 6" id="6"/>
          <p:cNvSpPr/>
          <p:nvPr/>
        </p:nvSpPr>
        <p:spPr>
          <a:xfrm flipV="true">
            <a:off x="1038225" y="942975"/>
            <a:ext cx="0" cy="2131373"/>
          </a:xfrm>
          <a:prstGeom prst="line">
            <a:avLst/>
          </a:prstGeom>
          <a:ln cap="rnd" w="95250">
            <a:solidFill>
              <a:srgbClr val="FFC74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-5400000">
            <a:off x="-358862" y="4131850"/>
            <a:ext cx="3526257" cy="846214"/>
          </a:xfrm>
          <a:custGeom>
            <a:avLst/>
            <a:gdLst/>
            <a:ahLst/>
            <a:cxnLst/>
            <a:rect r="r" b="b" t="t" l="l"/>
            <a:pathLst>
              <a:path h="846214" w="3526257">
                <a:moveTo>
                  <a:pt x="0" y="0"/>
                </a:moveTo>
                <a:lnTo>
                  <a:pt x="3526257" y="0"/>
                </a:lnTo>
                <a:lnTo>
                  <a:pt x="3526257" y="846214"/>
                </a:lnTo>
                <a:lnTo>
                  <a:pt x="0" y="846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56834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88401" y="2791828"/>
            <a:ext cx="5408143" cy="5408143"/>
          </a:xfrm>
          <a:custGeom>
            <a:avLst/>
            <a:gdLst/>
            <a:ahLst/>
            <a:cxnLst/>
            <a:rect r="r" b="b" t="t" l="l"/>
            <a:pathLst>
              <a:path h="5408143" w="5408143">
                <a:moveTo>
                  <a:pt x="0" y="0"/>
                </a:moveTo>
                <a:lnTo>
                  <a:pt x="5408143" y="0"/>
                </a:lnTo>
                <a:lnTo>
                  <a:pt x="5408143" y="5408143"/>
                </a:lnTo>
                <a:lnTo>
                  <a:pt x="0" y="54081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367674" y="1596705"/>
            <a:ext cx="11552653" cy="628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  <a:spcBef>
                <a:spcPct val="0"/>
              </a:spcBef>
            </a:pPr>
            <a:r>
              <a:rPr lang="en-US" sz="4100" spc="237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ANÁLISE ELEITORAL - REGIÃO SUDESTE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67573" y="7117402"/>
            <a:ext cx="4720828" cy="209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spc="121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FELIPE  DA SILVA PASCHOAL</a:t>
            </a:r>
          </a:p>
          <a:p>
            <a:pPr algn="ctr">
              <a:lnSpc>
                <a:spcPts val="2520"/>
              </a:lnSpc>
            </a:pPr>
            <a:r>
              <a:rPr lang="en-US" sz="2100" spc="121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GABRIEL DIAS FREITAS</a:t>
            </a:r>
          </a:p>
          <a:p>
            <a:pPr algn="ctr">
              <a:lnSpc>
                <a:spcPts val="2640"/>
              </a:lnSpc>
            </a:pPr>
            <a:r>
              <a:rPr lang="en-US" sz="2200" spc="127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MATHEUS RESENDE DE MOURA</a:t>
            </a:r>
          </a:p>
          <a:p>
            <a:pPr algn="ctr">
              <a:lnSpc>
                <a:spcPts val="2640"/>
              </a:lnSpc>
            </a:pPr>
            <a:r>
              <a:rPr lang="en-US" sz="2200" spc="127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RAFAEL GONSAGA SILVEIRA</a:t>
            </a:r>
          </a:p>
          <a:p>
            <a:pPr algn="ctr">
              <a:lnSpc>
                <a:spcPts val="2640"/>
              </a:lnSpc>
            </a:pPr>
            <a:r>
              <a:rPr lang="en-US" sz="2200" spc="127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SARA REGINA DE SANTANA</a:t>
            </a:r>
          </a:p>
          <a:p>
            <a:pPr algn="ctr">
              <a:lnSpc>
                <a:spcPts val="36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36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794184" y="9239250"/>
            <a:ext cx="10512698" cy="9525"/>
          </a:xfrm>
          <a:prstGeom prst="line">
            <a:avLst/>
          </a:prstGeom>
          <a:ln cap="rnd" w="95250">
            <a:solidFill>
              <a:srgbClr val="FFC74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990685" y="962025"/>
            <a:ext cx="10708149" cy="19050"/>
          </a:xfrm>
          <a:prstGeom prst="line">
            <a:avLst/>
          </a:prstGeom>
          <a:ln cap="rnd" w="95250">
            <a:solidFill>
              <a:srgbClr val="FFC74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17254494" y="7126927"/>
            <a:ext cx="0" cy="2131373"/>
          </a:xfrm>
          <a:prstGeom prst="line">
            <a:avLst/>
          </a:prstGeom>
          <a:ln cap="rnd" w="95250">
            <a:solidFill>
              <a:srgbClr val="FFC74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5400000">
            <a:off x="15139860" y="5215145"/>
            <a:ext cx="3526257" cy="807787"/>
          </a:xfrm>
          <a:custGeom>
            <a:avLst/>
            <a:gdLst/>
            <a:ahLst/>
            <a:cxnLst/>
            <a:rect r="r" b="b" t="t" l="l"/>
            <a:pathLst>
              <a:path h="807787" w="3526257">
                <a:moveTo>
                  <a:pt x="0" y="0"/>
                </a:moveTo>
                <a:lnTo>
                  <a:pt x="3526257" y="0"/>
                </a:lnTo>
                <a:lnTo>
                  <a:pt x="3526257" y="807787"/>
                </a:lnTo>
                <a:lnTo>
                  <a:pt x="0" y="8077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64295"/>
            </a:stretch>
          </a:blipFill>
        </p:spPr>
      </p:sp>
      <p:sp>
        <p:nvSpPr>
          <p:cNvPr name="AutoShape 6" id="6"/>
          <p:cNvSpPr/>
          <p:nvPr/>
        </p:nvSpPr>
        <p:spPr>
          <a:xfrm flipV="true">
            <a:off x="1038225" y="942975"/>
            <a:ext cx="0" cy="2131373"/>
          </a:xfrm>
          <a:prstGeom prst="line">
            <a:avLst/>
          </a:prstGeom>
          <a:ln cap="rnd" w="95250">
            <a:solidFill>
              <a:srgbClr val="FFC74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-5400000">
            <a:off x="-358862" y="4131850"/>
            <a:ext cx="3526257" cy="846214"/>
          </a:xfrm>
          <a:custGeom>
            <a:avLst/>
            <a:gdLst/>
            <a:ahLst/>
            <a:cxnLst/>
            <a:rect r="r" b="b" t="t" l="l"/>
            <a:pathLst>
              <a:path h="846214" w="3526257">
                <a:moveTo>
                  <a:pt x="0" y="0"/>
                </a:moveTo>
                <a:lnTo>
                  <a:pt x="3526257" y="0"/>
                </a:lnTo>
                <a:lnTo>
                  <a:pt x="3526257" y="846214"/>
                </a:lnTo>
                <a:lnTo>
                  <a:pt x="0" y="846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56834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844522" y="1596705"/>
            <a:ext cx="12598955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  <a:spcBef>
                <a:spcPct val="0"/>
              </a:spcBef>
            </a:pPr>
            <a:r>
              <a:rPr lang="en-US" sz="4100" spc="237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ANÁLISE PATRIMONIAL DOS CANDIDADTOS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03745" y="2812411"/>
            <a:ext cx="260794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3600" spc="208">
                <a:solidFill>
                  <a:srgbClr val="F2EBD7"/>
                </a:solidFill>
                <a:latin typeface="Lexend Deca"/>
                <a:ea typeface="Lexend Deca"/>
                <a:cs typeface="Lexend Deca"/>
                <a:sym typeface="Lexend Deca"/>
              </a:rPr>
              <a:t>OBJETIVO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88224" y="4116068"/>
            <a:ext cx="5711553" cy="424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Analisar os bens declarados pelos candidatos ultilizando dados públicos do TSE, transformando dados brutos em uma base organizada para identificar padrões patrimoniais e entendermos o perfil de cada participante.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36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00000">
            <a:off x="-4972522" y="3210567"/>
            <a:ext cx="12038317" cy="0"/>
          </a:xfrm>
          <a:prstGeom prst="line">
            <a:avLst/>
          </a:prstGeom>
          <a:ln cap="rnd" w="95250">
            <a:solidFill>
              <a:srgbClr val="FFC74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1027587" y="9229725"/>
            <a:ext cx="2131373" cy="0"/>
          </a:xfrm>
          <a:prstGeom prst="line">
            <a:avLst/>
          </a:prstGeom>
          <a:ln cap="rnd" w="95250">
            <a:solidFill>
              <a:srgbClr val="FFC74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3733043" y="1028700"/>
            <a:ext cx="3526257" cy="767312"/>
          </a:xfrm>
          <a:custGeom>
            <a:avLst/>
            <a:gdLst/>
            <a:ahLst/>
            <a:cxnLst/>
            <a:rect r="r" b="b" t="t" l="l"/>
            <a:pathLst>
              <a:path h="767312" w="3526257">
                <a:moveTo>
                  <a:pt x="0" y="0"/>
                </a:moveTo>
                <a:lnTo>
                  <a:pt x="3526257" y="0"/>
                </a:lnTo>
                <a:lnTo>
                  <a:pt x="3526257" y="767312"/>
                </a:lnTo>
                <a:lnTo>
                  <a:pt x="0" y="767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72961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37836" y="1476925"/>
            <a:ext cx="7406164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  <a:spcBef>
                <a:spcPct val="0"/>
              </a:spcBef>
            </a:pPr>
            <a:r>
              <a:rPr lang="en-US" sz="4100" spc="237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PREPARAÇÃO DOS DADOS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22742" y="3048939"/>
            <a:ext cx="10318949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78" indent="-302289" lvl="1">
              <a:lnSpc>
                <a:spcPts val="3360"/>
              </a:lnSpc>
              <a:spcBef>
                <a:spcPct val="0"/>
              </a:spcBef>
              <a:buFont typeface="Arial"/>
              <a:buChar char="•"/>
            </a:pPr>
            <a:r>
              <a:rPr lang="en-US" sz="2800" spc="162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IMPORTAMOS OS DADOS DE CANDIDATOS E BENS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58309" y="4668189"/>
            <a:ext cx="15851684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57" indent="-323878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174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CONVERTEMOS OS VALORES MONETÁRIOS PARA O FORMATO NUMÉRICO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58359" y="5922444"/>
            <a:ext cx="675411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57" indent="-323878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174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FILTRAMOS POR CARGO E UF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58369" y="7015003"/>
            <a:ext cx="9500394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57" indent="-323878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174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REMOVEMOS OS REGISTROS DUPLICADOS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58369" y="8110378"/>
            <a:ext cx="5646837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57" indent="-323878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spc="174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INTEGRAMOS AS BASES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36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12192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6547" t="0" r="26063" b="0"/>
            <a:stretch>
              <a:fillRect/>
            </a:stretch>
          </p:blipFill>
          <p:spPr>
            <a:xfrm flipH="false" flipV="false">
              <a:off x="0" y="0"/>
              <a:ext cx="12192000" cy="13716000"/>
            </a:xfrm>
            <a:prstGeom prst="rect">
              <a:avLst/>
            </a:prstGeom>
          </p:spPr>
        </p:pic>
      </p:grpSp>
      <p:sp>
        <p:nvSpPr>
          <p:cNvPr name="AutoShape 4" id="4"/>
          <p:cNvSpPr/>
          <p:nvPr/>
        </p:nvSpPr>
        <p:spPr>
          <a:xfrm rot="-10800000">
            <a:off x="1047807" y="1000125"/>
            <a:ext cx="1763453" cy="0"/>
          </a:xfrm>
          <a:prstGeom prst="line">
            <a:avLst/>
          </a:prstGeom>
          <a:ln cap="rnd" w="95250">
            <a:solidFill>
              <a:srgbClr val="FFC74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399866">
            <a:off x="311309" y="1717546"/>
            <a:ext cx="1472940" cy="0"/>
          </a:xfrm>
          <a:prstGeom prst="line">
            <a:avLst/>
          </a:prstGeom>
          <a:ln cap="rnd" w="95250">
            <a:solidFill>
              <a:srgbClr val="FFC74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6880366" y="533400"/>
            <a:ext cx="520928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0"/>
              </a:lnSpc>
              <a:spcBef>
                <a:spcPct val="0"/>
              </a:spcBef>
            </a:pPr>
            <a:r>
              <a:rPr lang="en-US" sz="3400" spc="197" u="sng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ANÁLISE</a:t>
            </a:r>
            <a:r>
              <a:rPr lang="en-US" sz="3400" spc="197" u="sng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 DESCRITIVA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994029" y="7209485"/>
            <a:ext cx="9443942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 spc="174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PARA FAZER ESSA ANÁLISE, FIZEMOS UM DIAGNOSTICO DA BASE PARA ENTENDER-MOS MELHOR A SUA ESTRUTURA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449913" y="1501517"/>
            <a:ext cx="944394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 spc="174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OS PRINCIPAIS ACHADOS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-195652" y="3568442"/>
            <a:ext cx="9189681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 spc="174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*ESTRUTURA DE BASE COMPEENDIDA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5270" y="4682867"/>
            <a:ext cx="7254411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 spc="174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*VARIAVÉIS CLASSIFICADAS EM NUMERICAS E CATEGORICAS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61511" y="6403376"/>
            <a:ext cx="7675355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 spc="174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*DADOS FALTANTES IDENTIFICADOS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14395" y="7666685"/>
            <a:ext cx="5244207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spc="174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*BASE VALIDADA PARA </a:t>
            </a:r>
          </a:p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 spc="174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ANÁLISES ESTATÍSTICAS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36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4862452" y="9277350"/>
            <a:ext cx="12490239" cy="0"/>
          </a:xfrm>
          <a:prstGeom prst="line">
            <a:avLst/>
          </a:prstGeom>
          <a:ln cap="flat" w="85725">
            <a:solidFill>
              <a:srgbClr val="FFC74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5797761" y="9234488"/>
            <a:ext cx="12490239" cy="0"/>
          </a:xfrm>
          <a:prstGeom prst="line">
            <a:avLst/>
          </a:prstGeom>
          <a:ln cap="flat" w="85725">
            <a:solidFill>
              <a:srgbClr val="FFC74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true" flipV="true" rot="-10800000">
            <a:off x="17617515" y="4164938"/>
            <a:ext cx="3122574" cy="1175223"/>
          </a:xfrm>
          <a:custGeom>
            <a:avLst/>
            <a:gdLst/>
            <a:ahLst/>
            <a:cxnLst/>
            <a:rect r="r" b="b" t="t" l="l"/>
            <a:pathLst>
              <a:path h="1175223" w="3122574">
                <a:moveTo>
                  <a:pt x="3122575" y="1175223"/>
                </a:moveTo>
                <a:lnTo>
                  <a:pt x="0" y="1175223"/>
                </a:lnTo>
                <a:lnTo>
                  <a:pt x="0" y="0"/>
                </a:lnTo>
                <a:lnTo>
                  <a:pt x="3122575" y="0"/>
                </a:lnTo>
                <a:lnTo>
                  <a:pt x="3122575" y="117522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2440" y="318781"/>
            <a:ext cx="16230600" cy="8867536"/>
          </a:xfrm>
          <a:custGeom>
            <a:avLst/>
            <a:gdLst/>
            <a:ahLst/>
            <a:cxnLst/>
            <a:rect r="r" b="b" t="t" l="l"/>
            <a:pathLst>
              <a:path h="8867536" w="16230600">
                <a:moveTo>
                  <a:pt x="0" y="0"/>
                </a:moveTo>
                <a:lnTo>
                  <a:pt x="16230600" y="0"/>
                </a:lnTo>
                <a:lnTo>
                  <a:pt x="16230600" y="8867536"/>
                </a:lnTo>
                <a:lnTo>
                  <a:pt x="0" y="88675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10800000">
            <a:off x="-2684609" y="7151735"/>
            <a:ext cx="3122574" cy="1175223"/>
          </a:xfrm>
          <a:custGeom>
            <a:avLst/>
            <a:gdLst/>
            <a:ahLst/>
            <a:cxnLst/>
            <a:rect r="r" b="b" t="t" l="l"/>
            <a:pathLst>
              <a:path h="1175223" w="3122574">
                <a:moveTo>
                  <a:pt x="3122574" y="1175224"/>
                </a:moveTo>
                <a:lnTo>
                  <a:pt x="0" y="1175224"/>
                </a:lnTo>
                <a:lnTo>
                  <a:pt x="0" y="0"/>
                </a:lnTo>
                <a:lnTo>
                  <a:pt x="3122574" y="0"/>
                </a:lnTo>
                <a:lnTo>
                  <a:pt x="3122574" y="117522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-10800000">
            <a:off x="-2461908" y="1518614"/>
            <a:ext cx="3122574" cy="1175223"/>
          </a:xfrm>
          <a:custGeom>
            <a:avLst/>
            <a:gdLst/>
            <a:ahLst/>
            <a:cxnLst/>
            <a:rect r="r" b="b" t="t" l="l"/>
            <a:pathLst>
              <a:path h="1175223" w="3122574">
                <a:moveTo>
                  <a:pt x="3122574" y="1175224"/>
                </a:moveTo>
                <a:lnTo>
                  <a:pt x="0" y="1175224"/>
                </a:lnTo>
                <a:lnTo>
                  <a:pt x="0" y="0"/>
                </a:lnTo>
                <a:lnTo>
                  <a:pt x="3122574" y="0"/>
                </a:lnTo>
                <a:lnTo>
                  <a:pt x="3122574" y="117522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36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4862452" y="9277350"/>
            <a:ext cx="12490239" cy="0"/>
          </a:xfrm>
          <a:prstGeom prst="line">
            <a:avLst/>
          </a:prstGeom>
          <a:ln cap="flat" w="85725">
            <a:solidFill>
              <a:srgbClr val="FFC74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5797761" y="9234488"/>
            <a:ext cx="12490239" cy="0"/>
          </a:xfrm>
          <a:prstGeom prst="line">
            <a:avLst/>
          </a:prstGeom>
          <a:ln cap="flat" w="85725">
            <a:solidFill>
              <a:srgbClr val="FFC74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true" flipV="true" rot="-10800000">
            <a:off x="17543282" y="4140193"/>
            <a:ext cx="3122574" cy="1175223"/>
          </a:xfrm>
          <a:custGeom>
            <a:avLst/>
            <a:gdLst/>
            <a:ahLst/>
            <a:cxnLst/>
            <a:rect r="r" b="b" t="t" l="l"/>
            <a:pathLst>
              <a:path h="1175223" w="3122574">
                <a:moveTo>
                  <a:pt x="3122574" y="1175223"/>
                </a:moveTo>
                <a:lnTo>
                  <a:pt x="0" y="1175223"/>
                </a:lnTo>
                <a:lnTo>
                  <a:pt x="0" y="0"/>
                </a:lnTo>
                <a:lnTo>
                  <a:pt x="3122574" y="0"/>
                </a:lnTo>
                <a:lnTo>
                  <a:pt x="3122574" y="117522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28061" y="699868"/>
            <a:ext cx="16631879" cy="8887263"/>
          </a:xfrm>
          <a:custGeom>
            <a:avLst/>
            <a:gdLst/>
            <a:ahLst/>
            <a:cxnLst/>
            <a:rect r="r" b="b" t="t" l="l"/>
            <a:pathLst>
              <a:path h="8887263" w="16631879">
                <a:moveTo>
                  <a:pt x="0" y="0"/>
                </a:moveTo>
                <a:lnTo>
                  <a:pt x="16631878" y="0"/>
                </a:lnTo>
                <a:lnTo>
                  <a:pt x="16631878" y="8887264"/>
                </a:lnTo>
                <a:lnTo>
                  <a:pt x="0" y="88872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10800000">
            <a:off x="-2560886" y="7324947"/>
            <a:ext cx="3122574" cy="1175223"/>
          </a:xfrm>
          <a:custGeom>
            <a:avLst/>
            <a:gdLst/>
            <a:ahLst/>
            <a:cxnLst/>
            <a:rect r="r" b="b" t="t" l="l"/>
            <a:pathLst>
              <a:path h="1175223" w="3122574">
                <a:moveTo>
                  <a:pt x="3122574" y="1175223"/>
                </a:moveTo>
                <a:lnTo>
                  <a:pt x="0" y="1175223"/>
                </a:lnTo>
                <a:lnTo>
                  <a:pt x="0" y="0"/>
                </a:lnTo>
                <a:lnTo>
                  <a:pt x="3122574" y="0"/>
                </a:lnTo>
                <a:lnTo>
                  <a:pt x="3122574" y="117522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-10800000">
            <a:off x="-2560886" y="1536314"/>
            <a:ext cx="3122574" cy="1175223"/>
          </a:xfrm>
          <a:custGeom>
            <a:avLst/>
            <a:gdLst/>
            <a:ahLst/>
            <a:cxnLst/>
            <a:rect r="r" b="b" t="t" l="l"/>
            <a:pathLst>
              <a:path h="1175223" w="3122574">
                <a:moveTo>
                  <a:pt x="3122574" y="1175223"/>
                </a:moveTo>
                <a:lnTo>
                  <a:pt x="0" y="1175223"/>
                </a:lnTo>
                <a:lnTo>
                  <a:pt x="0" y="0"/>
                </a:lnTo>
                <a:lnTo>
                  <a:pt x="3122574" y="0"/>
                </a:lnTo>
                <a:lnTo>
                  <a:pt x="3122574" y="117522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36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1617" y="428625"/>
            <a:ext cx="6692503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1"/>
              </a:lnSpc>
              <a:spcBef>
                <a:spcPct val="0"/>
              </a:spcBef>
            </a:pPr>
            <a:r>
              <a:rPr lang="en-US" sz="4026" spc="233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OS GRÁFICOS INDICAM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67847" y="1245890"/>
            <a:ext cx="10727631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1"/>
              </a:lnSpc>
              <a:spcBef>
                <a:spcPct val="0"/>
              </a:spcBef>
            </a:pPr>
            <a:r>
              <a:rPr lang="en-US" sz="2626" spc="152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IDADE- POSSUI DISTRIBUIÇÃO RELATIVAMENTE NORMAL.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-225263" y="1645940"/>
            <a:ext cx="10779241" cy="1592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0"/>
              </a:lnSpc>
              <a:spcBef>
                <a:spcPct val="0"/>
              </a:spcBef>
            </a:pPr>
            <a:r>
              <a:rPr lang="en-US" sz="2625" spc="152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TOTAL_BENS, TOTAL_GASTO_CAMPANHA E BENS, APRESENTAM FORTE ASSIMETRIA POSITIVA(MUITOS VALORES BAIXOS E POUCOS VALORES EXTREMAMENTE ALTOS.)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3386137"/>
            <a:ext cx="11880526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1"/>
              </a:lnSpc>
              <a:spcBef>
                <a:spcPct val="0"/>
              </a:spcBef>
            </a:pPr>
            <a:r>
              <a:rPr lang="en-US" sz="2626" spc="152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AS </a:t>
            </a:r>
            <a:r>
              <a:rPr lang="en-US" sz="2626" spc="152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VERSÕES COM LOGARITMO(“_LOG”) MOSTRAM DISTRIBUIÇÕES MAIS EQUILIBARADAS, SUGERINDO QUE A TRANSFORMAÇÃO FOI ADEQUADA PARA A ANALISE ESTATISTICA E MODELAGEM.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5133975"/>
            <a:ext cx="10779241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1"/>
              </a:lnSpc>
              <a:spcBef>
                <a:spcPct val="0"/>
              </a:spcBef>
            </a:pPr>
            <a:r>
              <a:rPr lang="en-US" sz="2626" spc="152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HÁ PRESENÇA DE OUTLIERS ( VALORES MUITO ACIMA DA MAIORIA) PRINCIPALMENTE EM PATRIMÔNIO E GASTOS DE CAMPANHA, INDICANDO CONCENTRAÇÃO DE RIQUEZA E RECURSOS EM POUCOS INDIVIDUOS.</a:t>
            </a:r>
          </a:p>
        </p:txBody>
      </p:sp>
      <p:sp>
        <p:nvSpPr>
          <p:cNvPr name="Freeform 7" id="7"/>
          <p:cNvSpPr/>
          <p:nvPr/>
        </p:nvSpPr>
        <p:spPr>
          <a:xfrm flipH="true" flipV="true" rot="-10800000">
            <a:off x="16726713" y="732016"/>
            <a:ext cx="3122574" cy="1175223"/>
          </a:xfrm>
          <a:custGeom>
            <a:avLst/>
            <a:gdLst/>
            <a:ahLst/>
            <a:cxnLst/>
            <a:rect r="r" b="b" t="t" l="l"/>
            <a:pathLst>
              <a:path h="1175223" w="3122574">
                <a:moveTo>
                  <a:pt x="3122574" y="1175224"/>
                </a:moveTo>
                <a:lnTo>
                  <a:pt x="0" y="1175224"/>
                </a:lnTo>
                <a:lnTo>
                  <a:pt x="0" y="0"/>
                </a:lnTo>
                <a:lnTo>
                  <a:pt x="3122574" y="0"/>
                </a:lnTo>
                <a:lnTo>
                  <a:pt x="3122574" y="117522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rot="0">
            <a:off x="5797761" y="9234488"/>
            <a:ext cx="12490239" cy="0"/>
          </a:xfrm>
          <a:prstGeom prst="line">
            <a:avLst/>
          </a:prstGeom>
          <a:ln cap="flat" w="85725">
            <a:solidFill>
              <a:srgbClr val="FFC74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-225263" y="6886575"/>
            <a:ext cx="10779241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1"/>
              </a:lnSpc>
              <a:spcBef>
                <a:spcPct val="0"/>
              </a:spcBef>
            </a:pPr>
            <a:r>
              <a:rPr lang="en-US" sz="2626" spc="152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TODOS TEM UMA CARACTERÍSTICA TIPICA DE DADOS PATRIMONIAIS CHAMADA ASSIMETRIA POSITIVA EXTREMA.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79241" y="4735222"/>
            <a:ext cx="7240911" cy="251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9"/>
              </a:lnSpc>
              <a:spcBef>
                <a:spcPct val="0"/>
              </a:spcBef>
            </a:pPr>
            <a:r>
              <a:rPr lang="en-US" sz="1732" spc="1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MUITAS PESSOAS COM PATRIMÔNIO BAIXO OU MODERADO.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28010" y="5456564"/>
            <a:ext cx="6192143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1"/>
              </a:lnSpc>
              <a:spcBef>
                <a:spcPct val="0"/>
              </a:spcBef>
            </a:pPr>
            <a:r>
              <a:rPr lang="en-US" sz="1626" spc="94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POUCAS PESSOAS COM PATRIMÔNIO MUITO ELEVADO.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490083" y="6161414"/>
            <a:ext cx="3819227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1"/>
              </a:lnSpc>
              <a:spcBef>
                <a:spcPct val="0"/>
              </a:spcBef>
            </a:pPr>
            <a:r>
              <a:rPr lang="en-US" sz="1626" spc="94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PRESENÇA DE VÁRIOS OUTLIERS.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862796" y="6866264"/>
            <a:ext cx="7073801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1"/>
              </a:lnSpc>
              <a:spcBef>
                <a:spcPct val="0"/>
              </a:spcBef>
            </a:pPr>
            <a:r>
              <a:rPr lang="en-US" sz="1626" spc="94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A MÉDIA PROVAVELMENTE SERÁ BEM MAIOR QUE A MEDIANA.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36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3666" y="2123662"/>
            <a:ext cx="16978533" cy="6114583"/>
            <a:chOff x="0" y="0"/>
            <a:chExt cx="13693217" cy="49314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693217" cy="4931422"/>
            </a:xfrm>
            <a:custGeom>
              <a:avLst/>
              <a:gdLst/>
              <a:ahLst/>
              <a:cxnLst/>
              <a:rect r="r" b="b" t="t" l="l"/>
              <a:pathLst>
                <a:path h="4931422" w="13693217">
                  <a:moveTo>
                    <a:pt x="13568758" y="4931422"/>
                  </a:moveTo>
                  <a:lnTo>
                    <a:pt x="124460" y="4931422"/>
                  </a:lnTo>
                  <a:cubicBezTo>
                    <a:pt x="55880" y="4931422"/>
                    <a:pt x="0" y="4875542"/>
                    <a:pt x="0" y="4806962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3568758" y="0"/>
                  </a:lnTo>
                  <a:cubicBezTo>
                    <a:pt x="13637337" y="0"/>
                    <a:pt x="13693217" y="55880"/>
                    <a:pt x="13693217" y="124460"/>
                  </a:cubicBezTo>
                  <a:lnTo>
                    <a:pt x="13693217" y="4806962"/>
                  </a:lnTo>
                  <a:cubicBezTo>
                    <a:pt x="13693217" y="4875542"/>
                    <a:pt x="13637337" y="4931422"/>
                    <a:pt x="13568758" y="4931422"/>
                  </a:cubicBezTo>
                  <a:close/>
                </a:path>
              </a:pathLst>
            </a:custGeom>
            <a:solidFill>
              <a:srgbClr val="FFC74B"/>
            </a:solidFill>
          </p:spPr>
        </p:sp>
      </p:grpSp>
      <p:sp>
        <p:nvSpPr>
          <p:cNvPr name="AutoShape 4" id="4"/>
          <p:cNvSpPr/>
          <p:nvPr/>
        </p:nvSpPr>
        <p:spPr>
          <a:xfrm rot="0">
            <a:off x="5797761" y="9234488"/>
            <a:ext cx="12490239" cy="0"/>
          </a:xfrm>
          <a:prstGeom prst="line">
            <a:avLst/>
          </a:prstGeom>
          <a:ln cap="flat" w="85725">
            <a:solidFill>
              <a:srgbClr val="FFC74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true" flipV="true" rot="-10800000">
            <a:off x="16726713" y="732016"/>
            <a:ext cx="3122574" cy="1175223"/>
          </a:xfrm>
          <a:custGeom>
            <a:avLst/>
            <a:gdLst/>
            <a:ahLst/>
            <a:cxnLst/>
            <a:rect r="r" b="b" t="t" l="l"/>
            <a:pathLst>
              <a:path h="1175223" w="3122574">
                <a:moveTo>
                  <a:pt x="3122574" y="1175224"/>
                </a:moveTo>
                <a:lnTo>
                  <a:pt x="0" y="1175224"/>
                </a:lnTo>
                <a:lnTo>
                  <a:pt x="0" y="0"/>
                </a:lnTo>
                <a:lnTo>
                  <a:pt x="3122574" y="0"/>
                </a:lnTo>
                <a:lnTo>
                  <a:pt x="3122574" y="117522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93666" y="2604762"/>
            <a:ext cx="9205575" cy="5077476"/>
          </a:xfrm>
          <a:custGeom>
            <a:avLst/>
            <a:gdLst/>
            <a:ahLst/>
            <a:cxnLst/>
            <a:rect r="r" b="b" t="t" l="l"/>
            <a:pathLst>
              <a:path h="5077476" w="9205575">
                <a:moveTo>
                  <a:pt x="0" y="0"/>
                </a:moveTo>
                <a:lnTo>
                  <a:pt x="9205574" y="0"/>
                </a:lnTo>
                <a:lnTo>
                  <a:pt x="9205574" y="5077476"/>
                </a:lnTo>
                <a:lnTo>
                  <a:pt x="0" y="5077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799240" y="2494583"/>
            <a:ext cx="7772958" cy="5297834"/>
          </a:xfrm>
          <a:custGeom>
            <a:avLst/>
            <a:gdLst/>
            <a:ahLst/>
            <a:cxnLst/>
            <a:rect r="r" b="b" t="t" l="l"/>
            <a:pathLst>
              <a:path h="5297834" w="7772958">
                <a:moveTo>
                  <a:pt x="0" y="0"/>
                </a:moveTo>
                <a:lnTo>
                  <a:pt x="7772958" y="0"/>
                </a:lnTo>
                <a:lnTo>
                  <a:pt x="7772958" y="5297834"/>
                </a:lnTo>
                <a:lnTo>
                  <a:pt x="0" y="52978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3" t="-6094" r="-413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293992" y="427716"/>
            <a:ext cx="11700016" cy="1209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1"/>
              </a:lnSpc>
            </a:pPr>
            <a:r>
              <a:rPr lang="en-US" sz="4026" spc="233">
                <a:solidFill>
                  <a:srgbClr val="F2EBD7"/>
                </a:solidFill>
                <a:latin typeface="Lexend Deca"/>
                <a:ea typeface="Lexend Deca"/>
                <a:cs typeface="Lexend Deca"/>
                <a:sym typeface="Lexend Deca"/>
              </a:rPr>
              <a:t>CLUSTERIZAÇÃO COM BISECTING </a:t>
            </a:r>
          </a:p>
          <a:p>
            <a:pPr algn="ctr" marL="0" indent="0" lvl="0">
              <a:lnSpc>
                <a:spcPts val="4831"/>
              </a:lnSpc>
              <a:spcBef>
                <a:spcPct val="0"/>
              </a:spcBef>
            </a:pPr>
            <a:r>
              <a:rPr lang="en-US" sz="4026" spc="233">
                <a:solidFill>
                  <a:srgbClr val="F2EBD7"/>
                </a:solidFill>
                <a:latin typeface="Lexend Deca"/>
                <a:ea typeface="Lexend Deca"/>
                <a:cs typeface="Lexend Deca"/>
                <a:sym typeface="Lexend Deca"/>
              </a:rPr>
              <a:t>K-MEANS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36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797761" y="9552671"/>
            <a:ext cx="12490239" cy="0"/>
          </a:xfrm>
          <a:prstGeom prst="line">
            <a:avLst/>
          </a:prstGeom>
          <a:ln cap="flat" w="85725">
            <a:solidFill>
              <a:srgbClr val="FFC74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true" flipV="true" rot="-10800000">
            <a:off x="16726713" y="1282659"/>
            <a:ext cx="3122574" cy="1175223"/>
          </a:xfrm>
          <a:custGeom>
            <a:avLst/>
            <a:gdLst/>
            <a:ahLst/>
            <a:cxnLst/>
            <a:rect r="r" b="b" t="t" l="l"/>
            <a:pathLst>
              <a:path h="1175223" w="3122574">
                <a:moveTo>
                  <a:pt x="3122574" y="1175223"/>
                </a:moveTo>
                <a:lnTo>
                  <a:pt x="0" y="1175223"/>
                </a:lnTo>
                <a:lnTo>
                  <a:pt x="0" y="0"/>
                </a:lnTo>
                <a:lnTo>
                  <a:pt x="3122574" y="0"/>
                </a:lnTo>
                <a:lnTo>
                  <a:pt x="3122574" y="117522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665110" y="1281927"/>
            <a:ext cx="10957781" cy="7723146"/>
          </a:xfrm>
          <a:custGeom>
            <a:avLst/>
            <a:gdLst/>
            <a:ahLst/>
            <a:cxnLst/>
            <a:rect r="r" b="b" t="t" l="l"/>
            <a:pathLst>
              <a:path h="7723146" w="10957781">
                <a:moveTo>
                  <a:pt x="0" y="0"/>
                </a:moveTo>
                <a:lnTo>
                  <a:pt x="10957780" y="0"/>
                </a:lnTo>
                <a:lnTo>
                  <a:pt x="10957780" y="7723146"/>
                </a:lnTo>
                <a:lnTo>
                  <a:pt x="0" y="77231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-10519050" y="7051976"/>
            <a:ext cx="12490239" cy="0"/>
          </a:xfrm>
          <a:prstGeom prst="line">
            <a:avLst/>
          </a:prstGeom>
          <a:ln cap="flat" w="85725">
            <a:solidFill>
              <a:srgbClr val="FFC74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-9467824" y="3247538"/>
            <a:ext cx="12490239" cy="0"/>
          </a:xfrm>
          <a:prstGeom prst="line">
            <a:avLst/>
          </a:prstGeom>
          <a:ln cap="flat" w="85725">
            <a:solidFill>
              <a:srgbClr val="FFC74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3293992" y="428625"/>
            <a:ext cx="1170001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31"/>
              </a:lnSpc>
              <a:spcBef>
                <a:spcPct val="0"/>
              </a:spcBef>
            </a:pPr>
            <a:r>
              <a:rPr lang="en-US" sz="4026" spc="233">
                <a:solidFill>
                  <a:srgbClr val="F2EBD7"/>
                </a:solidFill>
                <a:latin typeface="Lexend Deca"/>
                <a:ea typeface="Lexend Deca"/>
                <a:cs typeface="Lexend Deca"/>
                <a:sym typeface="Lexend Deca"/>
              </a:rPr>
              <a:t>DEFINIÇÃO DOS CLUSTERS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36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797761" y="10056004"/>
            <a:ext cx="12490239" cy="0"/>
          </a:xfrm>
          <a:prstGeom prst="line">
            <a:avLst/>
          </a:prstGeom>
          <a:ln cap="flat" w="85725">
            <a:solidFill>
              <a:srgbClr val="FFC74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true" flipV="true" rot="-10800000">
            <a:off x="16726713" y="1282659"/>
            <a:ext cx="3122574" cy="1175223"/>
          </a:xfrm>
          <a:custGeom>
            <a:avLst/>
            <a:gdLst/>
            <a:ahLst/>
            <a:cxnLst/>
            <a:rect r="r" b="b" t="t" l="l"/>
            <a:pathLst>
              <a:path h="1175223" w="3122574">
                <a:moveTo>
                  <a:pt x="3122574" y="1175223"/>
                </a:moveTo>
                <a:lnTo>
                  <a:pt x="0" y="1175223"/>
                </a:lnTo>
                <a:lnTo>
                  <a:pt x="0" y="0"/>
                </a:lnTo>
                <a:lnTo>
                  <a:pt x="3122574" y="0"/>
                </a:lnTo>
                <a:lnTo>
                  <a:pt x="3122574" y="117522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50263" y="5334835"/>
            <a:ext cx="16294510" cy="4325881"/>
          </a:xfrm>
          <a:custGeom>
            <a:avLst/>
            <a:gdLst/>
            <a:ahLst/>
            <a:cxnLst/>
            <a:rect r="r" b="b" t="t" l="l"/>
            <a:pathLst>
              <a:path h="4325881" w="16294510">
                <a:moveTo>
                  <a:pt x="0" y="0"/>
                </a:moveTo>
                <a:lnTo>
                  <a:pt x="16294510" y="0"/>
                </a:lnTo>
                <a:lnTo>
                  <a:pt x="16294510" y="4325881"/>
                </a:lnTo>
                <a:lnTo>
                  <a:pt x="0" y="43258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10800000">
            <a:off x="-1561287" y="1282659"/>
            <a:ext cx="3122574" cy="1175223"/>
          </a:xfrm>
          <a:custGeom>
            <a:avLst/>
            <a:gdLst/>
            <a:ahLst/>
            <a:cxnLst/>
            <a:rect r="r" b="b" t="t" l="l"/>
            <a:pathLst>
              <a:path h="1175223" w="3122574">
                <a:moveTo>
                  <a:pt x="3122574" y="1175223"/>
                </a:moveTo>
                <a:lnTo>
                  <a:pt x="0" y="1175223"/>
                </a:lnTo>
                <a:lnTo>
                  <a:pt x="0" y="0"/>
                </a:lnTo>
                <a:lnTo>
                  <a:pt x="3122574" y="0"/>
                </a:lnTo>
                <a:lnTo>
                  <a:pt x="3122574" y="117522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347510" y="206334"/>
            <a:ext cx="1170001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31"/>
              </a:lnSpc>
              <a:spcBef>
                <a:spcPct val="0"/>
              </a:spcBef>
            </a:pPr>
            <a:r>
              <a:rPr lang="en-US" sz="4026" spc="233">
                <a:solidFill>
                  <a:srgbClr val="F2EBD7"/>
                </a:solidFill>
                <a:latin typeface="Lexend Deca"/>
                <a:ea typeface="Lexend Deca"/>
                <a:cs typeface="Lexend Deca"/>
                <a:sym typeface="Lexend Deca"/>
              </a:rPr>
              <a:t>NOMEAÇÃO E MÉDIA DOS CLUSTERS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123967" y="1155679"/>
            <a:ext cx="14147103" cy="3829885"/>
          </a:xfrm>
          <a:custGeom>
            <a:avLst/>
            <a:gdLst/>
            <a:ahLst/>
            <a:cxnLst/>
            <a:rect r="r" b="b" t="t" l="l"/>
            <a:pathLst>
              <a:path h="3829885" w="14147103">
                <a:moveTo>
                  <a:pt x="0" y="0"/>
                </a:moveTo>
                <a:lnTo>
                  <a:pt x="14147102" y="0"/>
                </a:lnTo>
                <a:lnTo>
                  <a:pt x="14147102" y="3829886"/>
                </a:lnTo>
                <a:lnTo>
                  <a:pt x="0" y="38298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592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36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797761" y="9802963"/>
            <a:ext cx="12490239" cy="0"/>
          </a:xfrm>
          <a:prstGeom prst="line">
            <a:avLst/>
          </a:prstGeom>
          <a:ln cap="flat" w="85725">
            <a:solidFill>
              <a:srgbClr val="FFC74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true" flipV="true" rot="-10800000">
            <a:off x="16726713" y="1282659"/>
            <a:ext cx="3122574" cy="1175223"/>
          </a:xfrm>
          <a:custGeom>
            <a:avLst/>
            <a:gdLst/>
            <a:ahLst/>
            <a:cxnLst/>
            <a:rect r="r" b="b" t="t" l="l"/>
            <a:pathLst>
              <a:path h="1175223" w="3122574">
                <a:moveTo>
                  <a:pt x="3122574" y="1175223"/>
                </a:moveTo>
                <a:lnTo>
                  <a:pt x="0" y="1175223"/>
                </a:lnTo>
                <a:lnTo>
                  <a:pt x="0" y="0"/>
                </a:lnTo>
                <a:lnTo>
                  <a:pt x="3122574" y="0"/>
                </a:lnTo>
                <a:lnTo>
                  <a:pt x="3122574" y="117522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10800000">
            <a:off x="-1561287" y="1282659"/>
            <a:ext cx="3122574" cy="1175223"/>
          </a:xfrm>
          <a:custGeom>
            <a:avLst/>
            <a:gdLst/>
            <a:ahLst/>
            <a:cxnLst/>
            <a:rect r="r" b="b" t="t" l="l"/>
            <a:pathLst>
              <a:path h="1175223" w="3122574">
                <a:moveTo>
                  <a:pt x="3122574" y="1175223"/>
                </a:moveTo>
                <a:lnTo>
                  <a:pt x="0" y="1175223"/>
                </a:lnTo>
                <a:lnTo>
                  <a:pt x="0" y="0"/>
                </a:lnTo>
                <a:lnTo>
                  <a:pt x="3122574" y="0"/>
                </a:lnTo>
                <a:lnTo>
                  <a:pt x="3122574" y="117522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144916" y="1028700"/>
            <a:ext cx="9998169" cy="8087220"/>
          </a:xfrm>
          <a:custGeom>
            <a:avLst/>
            <a:gdLst/>
            <a:ahLst/>
            <a:cxnLst/>
            <a:rect r="r" b="b" t="t" l="l"/>
            <a:pathLst>
              <a:path h="8087220" w="9998169">
                <a:moveTo>
                  <a:pt x="0" y="0"/>
                </a:moveTo>
                <a:lnTo>
                  <a:pt x="9998168" y="0"/>
                </a:lnTo>
                <a:lnTo>
                  <a:pt x="9998168" y="8087220"/>
                </a:lnTo>
                <a:lnTo>
                  <a:pt x="0" y="80872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10800000">
            <a:off x="-1561287" y="8343117"/>
            <a:ext cx="3122574" cy="1175223"/>
          </a:xfrm>
          <a:custGeom>
            <a:avLst/>
            <a:gdLst/>
            <a:ahLst/>
            <a:cxnLst/>
            <a:rect r="r" b="b" t="t" l="l"/>
            <a:pathLst>
              <a:path h="1175223" w="3122574">
                <a:moveTo>
                  <a:pt x="3122574" y="1175223"/>
                </a:moveTo>
                <a:lnTo>
                  <a:pt x="0" y="1175223"/>
                </a:lnTo>
                <a:lnTo>
                  <a:pt x="0" y="0"/>
                </a:lnTo>
                <a:lnTo>
                  <a:pt x="3122574" y="0"/>
                </a:lnTo>
                <a:lnTo>
                  <a:pt x="3122574" y="117522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-10800000">
            <a:off x="16726713" y="4791196"/>
            <a:ext cx="3122574" cy="1175223"/>
          </a:xfrm>
          <a:custGeom>
            <a:avLst/>
            <a:gdLst/>
            <a:ahLst/>
            <a:cxnLst/>
            <a:rect r="r" b="b" t="t" l="l"/>
            <a:pathLst>
              <a:path h="1175223" w="3122574">
                <a:moveTo>
                  <a:pt x="3122574" y="1175223"/>
                </a:moveTo>
                <a:lnTo>
                  <a:pt x="0" y="1175223"/>
                </a:lnTo>
                <a:lnTo>
                  <a:pt x="0" y="0"/>
                </a:lnTo>
                <a:lnTo>
                  <a:pt x="3122574" y="0"/>
                </a:lnTo>
                <a:lnTo>
                  <a:pt x="3122574" y="117522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-10800000">
            <a:off x="-2093874" y="4812888"/>
            <a:ext cx="3122574" cy="1175223"/>
          </a:xfrm>
          <a:custGeom>
            <a:avLst/>
            <a:gdLst/>
            <a:ahLst/>
            <a:cxnLst/>
            <a:rect r="r" b="b" t="t" l="l"/>
            <a:pathLst>
              <a:path h="1175223" w="3122574">
                <a:moveTo>
                  <a:pt x="3122574" y="1175223"/>
                </a:moveTo>
                <a:lnTo>
                  <a:pt x="0" y="1175223"/>
                </a:lnTo>
                <a:lnTo>
                  <a:pt x="0" y="0"/>
                </a:lnTo>
                <a:lnTo>
                  <a:pt x="3122574" y="0"/>
                </a:lnTo>
                <a:lnTo>
                  <a:pt x="3122574" y="117522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3636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8924" y="4007368"/>
            <a:ext cx="556274" cy="556274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74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58924" y="4929574"/>
            <a:ext cx="556274" cy="556274"/>
            <a:chOff x="0" y="0"/>
            <a:chExt cx="6350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74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58924" y="6773984"/>
            <a:ext cx="556274" cy="556274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74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58924" y="5851779"/>
            <a:ext cx="556274" cy="556274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74B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579109" y="3656819"/>
            <a:ext cx="4373530" cy="90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99"/>
              </a:lnSpc>
            </a:pPr>
            <a:r>
              <a:rPr lang="en-US" sz="3999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Idade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40631" y="4003351"/>
            <a:ext cx="392859" cy="478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2"/>
              </a:lnSpc>
            </a:pPr>
            <a:r>
              <a:rPr lang="en-US" sz="2594">
                <a:solidFill>
                  <a:srgbClr val="000000"/>
                </a:solidFill>
                <a:latin typeface="Clear Sans Light"/>
                <a:ea typeface="Clear Sans Light"/>
                <a:cs typeface="Clear Sans Light"/>
                <a:sym typeface="Clear Sans Light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79109" y="4580630"/>
            <a:ext cx="5276500" cy="90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7999"/>
              </a:lnSpc>
              <a:spcBef>
                <a:spcPct val="0"/>
              </a:spcBef>
            </a:pPr>
            <a:r>
              <a:rPr lang="en-US" sz="3999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Anos de Estudo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40631" y="4925556"/>
            <a:ext cx="392859" cy="478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4072"/>
              </a:lnSpc>
              <a:spcBef>
                <a:spcPct val="0"/>
              </a:spcBef>
            </a:pPr>
            <a:r>
              <a:rPr lang="en-US" sz="2594" u="none">
                <a:solidFill>
                  <a:srgbClr val="000000"/>
                </a:solidFill>
                <a:latin typeface="Clear Sans Light"/>
                <a:ea typeface="Clear Sans Light"/>
                <a:cs typeface="Clear Sans Light"/>
                <a:sym typeface="Clear Sans Light"/>
              </a:rPr>
              <a:t>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79109" y="6428251"/>
            <a:ext cx="5667972" cy="90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7999"/>
              </a:lnSpc>
              <a:spcBef>
                <a:spcPct val="0"/>
              </a:spcBef>
            </a:pPr>
            <a:r>
              <a:rPr lang="en-US" sz="3999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Total de Despesas (Log)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40631" y="6769967"/>
            <a:ext cx="392859" cy="478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4072"/>
              </a:lnSpc>
              <a:spcBef>
                <a:spcPct val="0"/>
              </a:spcBef>
            </a:pPr>
            <a:r>
              <a:rPr lang="en-US" sz="2594" u="none">
                <a:solidFill>
                  <a:srgbClr val="000000"/>
                </a:solidFill>
                <a:latin typeface="Clear Sans Light"/>
                <a:ea typeface="Clear Sans Light"/>
                <a:cs typeface="Clear Sans Light"/>
                <a:sym typeface="Clear Sans Light"/>
              </a:rPr>
              <a:t>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579109" y="5504441"/>
            <a:ext cx="5276500" cy="90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7999"/>
              </a:lnSpc>
              <a:spcBef>
                <a:spcPct val="0"/>
              </a:spcBef>
            </a:pPr>
            <a:r>
              <a:rPr lang="en-US" sz="3999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Total de Bens (Log)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40631" y="5847761"/>
            <a:ext cx="392859" cy="478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4072"/>
              </a:lnSpc>
              <a:spcBef>
                <a:spcPct val="0"/>
              </a:spcBef>
            </a:pPr>
            <a:r>
              <a:rPr lang="en-US" sz="2594" u="none">
                <a:solidFill>
                  <a:srgbClr val="000000"/>
                </a:solidFill>
                <a:latin typeface="Clear Sans Light"/>
                <a:ea typeface="Clear Sans Light"/>
                <a:cs typeface="Clear Sans Light"/>
                <a:sym typeface="Clear Sans Light"/>
              </a:rPr>
              <a:t>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1075" y="1300213"/>
            <a:ext cx="1623060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760"/>
              </a:lnSpc>
              <a:spcBef>
                <a:spcPct val="0"/>
              </a:spcBef>
            </a:pPr>
            <a:r>
              <a:rPr lang="en-US" sz="7300" spc="423">
                <a:solidFill>
                  <a:srgbClr val="F2EBD7"/>
                </a:solidFill>
                <a:latin typeface="Lexend Deca"/>
                <a:ea typeface="Lexend Deca"/>
                <a:cs typeface="Lexend Deca"/>
                <a:sym typeface="Lexend Deca"/>
              </a:rPr>
              <a:t>METODOLOGIA UTILIZADA</a:t>
            </a:r>
          </a:p>
        </p:txBody>
      </p:sp>
      <p:sp>
        <p:nvSpPr>
          <p:cNvPr name="AutoShape 19" id="19"/>
          <p:cNvSpPr/>
          <p:nvPr/>
        </p:nvSpPr>
        <p:spPr>
          <a:xfrm>
            <a:off x="790946" y="8182269"/>
            <a:ext cx="0" cy="1453196"/>
          </a:xfrm>
          <a:prstGeom prst="line">
            <a:avLst/>
          </a:prstGeom>
          <a:ln cap="rnd" w="114300">
            <a:solidFill>
              <a:srgbClr val="FFC74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V="true">
            <a:off x="768158" y="9635464"/>
            <a:ext cx="1762057" cy="47"/>
          </a:xfrm>
          <a:prstGeom prst="line">
            <a:avLst/>
          </a:prstGeom>
          <a:ln cap="rnd" w="114300">
            <a:solidFill>
              <a:srgbClr val="FFC74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flipV="true">
            <a:off x="17482868" y="637007"/>
            <a:ext cx="0" cy="2097383"/>
          </a:xfrm>
          <a:prstGeom prst="line">
            <a:avLst/>
          </a:prstGeom>
          <a:ln cap="rnd" w="114300">
            <a:solidFill>
              <a:srgbClr val="FFC74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flipH="true">
            <a:off x="15779533" y="657182"/>
            <a:ext cx="1751858" cy="68"/>
          </a:xfrm>
          <a:prstGeom prst="line">
            <a:avLst/>
          </a:prstGeom>
          <a:ln cap="rnd" w="114300">
            <a:solidFill>
              <a:srgbClr val="FFC74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1558924" y="2626848"/>
            <a:ext cx="6506427" cy="972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99"/>
              </a:lnSpc>
            </a:pPr>
            <a:r>
              <a:rPr lang="en-US" b="true" sz="4299">
                <a:solidFill>
                  <a:srgbClr val="F2EBD7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Variáveis Quantitativas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094051" y="4007368"/>
            <a:ext cx="556274" cy="556274"/>
            <a:chOff x="0" y="0"/>
            <a:chExt cx="6350000" cy="6350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74B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094051" y="4929574"/>
            <a:ext cx="556274" cy="556274"/>
            <a:chOff x="0" y="0"/>
            <a:chExt cx="6350000" cy="6350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74B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094051" y="6773984"/>
            <a:ext cx="556274" cy="556274"/>
            <a:chOff x="0" y="0"/>
            <a:chExt cx="6350000" cy="6350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74B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094051" y="5851779"/>
            <a:ext cx="556274" cy="556274"/>
            <a:chOff x="0" y="0"/>
            <a:chExt cx="6350000" cy="6350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74B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094051" y="7699479"/>
            <a:ext cx="556274" cy="556274"/>
            <a:chOff x="0" y="0"/>
            <a:chExt cx="6350000" cy="6350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74B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0114236" y="3656819"/>
            <a:ext cx="7853282" cy="90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99"/>
              </a:lnSpc>
            </a:pPr>
            <a:r>
              <a:rPr lang="en-US" sz="3999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Gênero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175759" y="4003351"/>
            <a:ext cx="392859" cy="478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2"/>
              </a:lnSpc>
            </a:pPr>
            <a:r>
              <a:rPr lang="en-US" sz="2594">
                <a:solidFill>
                  <a:srgbClr val="000000"/>
                </a:solidFill>
                <a:latin typeface="Clear Sans Light"/>
                <a:ea typeface="Clear Sans Light"/>
                <a:cs typeface="Clear Sans Light"/>
                <a:sym typeface="Clear Sans Light"/>
              </a:rPr>
              <a:t>1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114236" y="4580630"/>
            <a:ext cx="5276500" cy="90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7999"/>
              </a:lnSpc>
              <a:spcBef>
                <a:spcPct val="0"/>
              </a:spcBef>
            </a:pPr>
            <a:r>
              <a:rPr lang="en-US" sz="3999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Raça/Cor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175759" y="4925556"/>
            <a:ext cx="392859" cy="478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4072"/>
              </a:lnSpc>
              <a:spcBef>
                <a:spcPct val="0"/>
              </a:spcBef>
            </a:pPr>
            <a:r>
              <a:rPr lang="en-US" sz="2594" u="none">
                <a:solidFill>
                  <a:srgbClr val="000000"/>
                </a:solidFill>
                <a:latin typeface="Clear Sans Light"/>
                <a:ea typeface="Clear Sans Light"/>
                <a:cs typeface="Clear Sans Light"/>
                <a:sym typeface="Clear Sans Light"/>
              </a:rPr>
              <a:t>2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114236" y="6428251"/>
            <a:ext cx="7407848" cy="90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7999"/>
              </a:lnSpc>
              <a:spcBef>
                <a:spcPct val="0"/>
              </a:spcBef>
            </a:pPr>
            <a:r>
              <a:rPr lang="en-US" sz="3999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Grau de Instrução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175759" y="6769967"/>
            <a:ext cx="392859" cy="478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4072"/>
              </a:lnSpc>
              <a:spcBef>
                <a:spcPct val="0"/>
              </a:spcBef>
            </a:pPr>
            <a:r>
              <a:rPr lang="en-US" sz="2594" u="none">
                <a:solidFill>
                  <a:srgbClr val="000000"/>
                </a:solidFill>
                <a:latin typeface="Clear Sans Light"/>
                <a:ea typeface="Clear Sans Light"/>
                <a:cs typeface="Clear Sans Light"/>
                <a:sym typeface="Clear Sans Light"/>
              </a:rPr>
              <a:t>4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114236" y="5504441"/>
            <a:ext cx="5276500" cy="90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7999"/>
              </a:lnSpc>
              <a:spcBef>
                <a:spcPct val="0"/>
              </a:spcBef>
            </a:pPr>
            <a:r>
              <a:rPr lang="en-US" sz="3999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Estado Civil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175759" y="5847761"/>
            <a:ext cx="392859" cy="478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4072"/>
              </a:lnSpc>
              <a:spcBef>
                <a:spcPct val="0"/>
              </a:spcBef>
            </a:pPr>
            <a:r>
              <a:rPr lang="en-US" sz="2594" u="none">
                <a:solidFill>
                  <a:srgbClr val="000000"/>
                </a:solidFill>
                <a:latin typeface="Clear Sans Light"/>
                <a:ea typeface="Clear Sans Light"/>
                <a:cs typeface="Clear Sans Light"/>
                <a:sym typeface="Clear Sans Light"/>
              </a:rPr>
              <a:t>3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114236" y="7355352"/>
            <a:ext cx="5276500" cy="90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7999"/>
              </a:lnSpc>
              <a:spcBef>
                <a:spcPct val="0"/>
              </a:spcBef>
            </a:pPr>
            <a:r>
              <a:rPr lang="en-US" sz="3999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UF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175759" y="7695462"/>
            <a:ext cx="392859" cy="478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4072"/>
              </a:lnSpc>
              <a:spcBef>
                <a:spcPct val="0"/>
              </a:spcBef>
            </a:pPr>
            <a:r>
              <a:rPr lang="en-US" sz="2594" u="none">
                <a:solidFill>
                  <a:srgbClr val="000000"/>
                </a:solidFill>
                <a:latin typeface="Clear Sans Light"/>
                <a:ea typeface="Clear Sans Light"/>
                <a:cs typeface="Clear Sans Light"/>
                <a:sym typeface="Clear Sans Light"/>
              </a:rPr>
              <a:t>5</a:t>
            </a:r>
          </a:p>
        </p:txBody>
      </p:sp>
      <p:sp>
        <p:nvSpPr>
          <p:cNvPr name="AutoShape 44" id="44"/>
          <p:cNvSpPr/>
          <p:nvPr/>
        </p:nvSpPr>
        <p:spPr>
          <a:xfrm flipH="true">
            <a:off x="8601450" y="2709885"/>
            <a:ext cx="0" cy="5996336"/>
          </a:xfrm>
          <a:prstGeom prst="line">
            <a:avLst/>
          </a:prstGeom>
          <a:ln cap="rnd" w="95250">
            <a:solidFill>
              <a:srgbClr val="FFC74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5" id="45"/>
          <p:cNvSpPr txBox="true"/>
          <p:nvPr/>
        </p:nvSpPr>
        <p:spPr>
          <a:xfrm rot="0">
            <a:off x="9094051" y="2626848"/>
            <a:ext cx="7853282" cy="972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99"/>
              </a:lnSpc>
            </a:pPr>
            <a:r>
              <a:rPr lang="en-US" b="true" sz="4299">
                <a:solidFill>
                  <a:srgbClr val="F2EBD7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Cruzamento com Dados do TSE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36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10800000">
            <a:off x="13352800" y="8035668"/>
            <a:ext cx="3906500" cy="1470265"/>
          </a:xfrm>
          <a:custGeom>
            <a:avLst/>
            <a:gdLst/>
            <a:ahLst/>
            <a:cxnLst/>
            <a:rect r="r" b="b" t="t" l="l"/>
            <a:pathLst>
              <a:path h="1470265" w="3906500">
                <a:moveTo>
                  <a:pt x="3906500" y="1470264"/>
                </a:moveTo>
                <a:lnTo>
                  <a:pt x="0" y="1470264"/>
                </a:lnTo>
                <a:lnTo>
                  <a:pt x="0" y="0"/>
                </a:lnTo>
                <a:lnTo>
                  <a:pt x="3906500" y="0"/>
                </a:lnTo>
                <a:lnTo>
                  <a:pt x="3906500" y="147026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096040"/>
            <a:ext cx="7444981" cy="7162260"/>
          </a:xfrm>
          <a:custGeom>
            <a:avLst/>
            <a:gdLst/>
            <a:ahLst/>
            <a:cxnLst/>
            <a:rect r="r" b="b" t="t" l="l"/>
            <a:pathLst>
              <a:path h="7162260" w="7444981">
                <a:moveTo>
                  <a:pt x="0" y="0"/>
                </a:moveTo>
                <a:lnTo>
                  <a:pt x="7444981" y="0"/>
                </a:lnTo>
                <a:lnTo>
                  <a:pt x="7444981" y="7162260"/>
                </a:lnTo>
                <a:lnTo>
                  <a:pt x="0" y="71622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40827"/>
            <a:ext cx="18307076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60"/>
              </a:lnSpc>
              <a:spcBef>
                <a:spcPct val="0"/>
              </a:spcBef>
            </a:pPr>
            <a:r>
              <a:rPr lang="en-US" sz="6300" spc="365">
                <a:solidFill>
                  <a:srgbClr val="F2EBD7"/>
                </a:solidFill>
                <a:latin typeface="Lexend Deca"/>
                <a:ea typeface="Lexend Deca"/>
                <a:cs typeface="Lexend Deca"/>
                <a:sym typeface="Lexend Deca"/>
              </a:rPr>
              <a:t>IDENTIDADE DOS PERFIS MAPEADOS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0" y="3528013"/>
            <a:ext cx="8413646" cy="3653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3570" b="true">
                <a:solidFill>
                  <a:srgbClr val="F2EBD7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Cluster A — Elite Financeira e Eleitoral</a:t>
            </a:r>
          </a:p>
          <a:p>
            <a:pPr algn="l">
              <a:lnSpc>
                <a:spcPts val="4755"/>
              </a:lnSpc>
            </a:pPr>
          </a:p>
          <a:p>
            <a:pPr algn="l">
              <a:lnSpc>
                <a:spcPts val="4755"/>
              </a:lnSpc>
            </a:pPr>
            <a:r>
              <a:rPr lang="en-US" sz="317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Alt</a:t>
            </a:r>
            <a:r>
              <a:rPr lang="en-US" sz="317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o patrimônio, alta esco</a:t>
            </a:r>
            <a:r>
              <a:rPr lang="en-US" sz="317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laridade e maiores despesas de campanha. São candidatos ligeiramente acima da idade média, mas com forte apoio financeiro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36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10800000">
            <a:off x="14763794" y="1801246"/>
            <a:ext cx="2641613" cy="994207"/>
          </a:xfrm>
          <a:custGeom>
            <a:avLst/>
            <a:gdLst/>
            <a:ahLst/>
            <a:cxnLst/>
            <a:rect r="r" b="b" t="t" l="l"/>
            <a:pathLst>
              <a:path h="994207" w="2641613">
                <a:moveTo>
                  <a:pt x="2641613" y="994208"/>
                </a:moveTo>
                <a:lnTo>
                  <a:pt x="0" y="994208"/>
                </a:lnTo>
                <a:lnTo>
                  <a:pt x="0" y="0"/>
                </a:lnTo>
                <a:lnTo>
                  <a:pt x="2641613" y="0"/>
                </a:lnTo>
                <a:lnTo>
                  <a:pt x="2641613" y="99420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801246"/>
            <a:ext cx="7612814" cy="7457054"/>
          </a:xfrm>
          <a:custGeom>
            <a:avLst/>
            <a:gdLst/>
            <a:ahLst/>
            <a:cxnLst/>
            <a:rect r="r" b="b" t="t" l="l"/>
            <a:pathLst>
              <a:path h="7457054" w="7612814">
                <a:moveTo>
                  <a:pt x="0" y="0"/>
                </a:moveTo>
                <a:lnTo>
                  <a:pt x="7612814" y="0"/>
                </a:lnTo>
                <a:lnTo>
                  <a:pt x="7612814" y="7457054"/>
                </a:lnTo>
                <a:lnTo>
                  <a:pt x="0" y="74570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40827"/>
            <a:ext cx="18307076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60"/>
              </a:lnSpc>
              <a:spcBef>
                <a:spcPct val="0"/>
              </a:spcBef>
            </a:pPr>
            <a:r>
              <a:rPr lang="en-US" sz="6300" spc="365">
                <a:solidFill>
                  <a:srgbClr val="F2EBD7"/>
                </a:solidFill>
                <a:latin typeface="Lexend Deca"/>
                <a:ea typeface="Lexend Deca"/>
                <a:cs typeface="Lexend Deca"/>
                <a:sym typeface="Lexend Deca"/>
              </a:rPr>
              <a:t>IDENTIDADE DOS PERFIS MAPEADOS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0" y="3612782"/>
            <a:ext cx="8435394" cy="3729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3570" b="true">
                <a:solidFill>
                  <a:srgbClr val="F2EBD7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Cluster B — Acadêmicos de Baixo Orçamento</a:t>
            </a:r>
          </a:p>
          <a:p>
            <a:pPr algn="l">
              <a:lnSpc>
                <a:spcPts val="4755"/>
              </a:lnSpc>
            </a:pPr>
          </a:p>
          <a:p>
            <a:pPr algn="l">
              <a:lnSpc>
                <a:spcPts val="4755"/>
              </a:lnSpc>
            </a:pPr>
            <a:r>
              <a:rPr lang="en-US" sz="317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Candidatos com poucos bens e com praticamente nenhum orçamento para despesas eleitorais.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36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10800000">
            <a:off x="13352800" y="7788035"/>
            <a:ext cx="3906500" cy="1470265"/>
          </a:xfrm>
          <a:custGeom>
            <a:avLst/>
            <a:gdLst/>
            <a:ahLst/>
            <a:cxnLst/>
            <a:rect r="r" b="b" t="t" l="l"/>
            <a:pathLst>
              <a:path h="1470265" w="3906500">
                <a:moveTo>
                  <a:pt x="3906500" y="1470265"/>
                </a:moveTo>
                <a:lnTo>
                  <a:pt x="0" y="1470265"/>
                </a:lnTo>
                <a:lnTo>
                  <a:pt x="0" y="0"/>
                </a:lnTo>
                <a:lnTo>
                  <a:pt x="3906500" y="0"/>
                </a:lnTo>
                <a:lnTo>
                  <a:pt x="3906500" y="147026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158216"/>
            <a:ext cx="7383332" cy="7100084"/>
          </a:xfrm>
          <a:custGeom>
            <a:avLst/>
            <a:gdLst/>
            <a:ahLst/>
            <a:cxnLst/>
            <a:rect r="r" b="b" t="t" l="l"/>
            <a:pathLst>
              <a:path h="7100084" w="7383332">
                <a:moveTo>
                  <a:pt x="0" y="0"/>
                </a:moveTo>
                <a:lnTo>
                  <a:pt x="7383332" y="0"/>
                </a:lnTo>
                <a:lnTo>
                  <a:pt x="7383332" y="7100084"/>
                </a:lnTo>
                <a:lnTo>
                  <a:pt x="0" y="71000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40827"/>
            <a:ext cx="18307076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60"/>
              </a:lnSpc>
              <a:spcBef>
                <a:spcPct val="0"/>
              </a:spcBef>
            </a:pPr>
            <a:r>
              <a:rPr lang="en-US" sz="6300" spc="365">
                <a:solidFill>
                  <a:srgbClr val="F2EBD7"/>
                </a:solidFill>
                <a:latin typeface="Lexend Deca"/>
                <a:ea typeface="Lexend Deca"/>
                <a:cs typeface="Lexend Deca"/>
                <a:sym typeface="Lexend Deca"/>
              </a:rPr>
              <a:t>IDENTIDADE DOS PERFIS MAPEADOS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982864" y="2964571"/>
            <a:ext cx="8739873" cy="4253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3570" b="true">
                <a:solidFill>
                  <a:srgbClr val="F2EBD7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Cluster C — Financiados Sem Patrimônio</a:t>
            </a:r>
          </a:p>
          <a:p>
            <a:pPr algn="l">
              <a:lnSpc>
                <a:spcPts val="4755"/>
              </a:lnSpc>
            </a:pPr>
          </a:p>
          <a:p>
            <a:pPr algn="l">
              <a:lnSpc>
                <a:spcPts val="4755"/>
              </a:lnSpc>
            </a:pPr>
            <a:r>
              <a:rPr lang="en-US" sz="317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Candidatos com zero ou pouquíssimo patrimônio pessoal declarado, mas que possuem uma boa quantidade de anos de estudos e bons investimentos nas despesas de campanha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36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10800000">
            <a:off x="14622190" y="2259204"/>
            <a:ext cx="2637110" cy="992512"/>
          </a:xfrm>
          <a:custGeom>
            <a:avLst/>
            <a:gdLst/>
            <a:ahLst/>
            <a:cxnLst/>
            <a:rect r="r" b="b" t="t" l="l"/>
            <a:pathLst>
              <a:path h="992512" w="2637110">
                <a:moveTo>
                  <a:pt x="2637110" y="992512"/>
                </a:moveTo>
                <a:lnTo>
                  <a:pt x="0" y="992512"/>
                </a:lnTo>
                <a:lnTo>
                  <a:pt x="0" y="0"/>
                </a:lnTo>
                <a:lnTo>
                  <a:pt x="2637110" y="0"/>
                </a:lnTo>
                <a:lnTo>
                  <a:pt x="2637110" y="9925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472730"/>
            <a:ext cx="7270254" cy="6785570"/>
          </a:xfrm>
          <a:custGeom>
            <a:avLst/>
            <a:gdLst/>
            <a:ahLst/>
            <a:cxnLst/>
            <a:rect r="r" b="b" t="t" l="l"/>
            <a:pathLst>
              <a:path h="6785570" w="7270254">
                <a:moveTo>
                  <a:pt x="0" y="0"/>
                </a:moveTo>
                <a:lnTo>
                  <a:pt x="7270254" y="0"/>
                </a:lnTo>
                <a:lnTo>
                  <a:pt x="7270254" y="6785570"/>
                </a:lnTo>
                <a:lnTo>
                  <a:pt x="0" y="67855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40827"/>
            <a:ext cx="18307076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60"/>
              </a:lnSpc>
              <a:spcBef>
                <a:spcPct val="0"/>
              </a:spcBef>
            </a:pPr>
            <a:r>
              <a:rPr lang="en-US" sz="6300" spc="365">
                <a:solidFill>
                  <a:srgbClr val="F2EBD7"/>
                </a:solidFill>
                <a:latin typeface="Lexend Deca"/>
                <a:ea typeface="Lexend Deca"/>
                <a:cs typeface="Lexend Deca"/>
                <a:sym typeface="Lexend Deca"/>
              </a:rPr>
              <a:t>IDENTIDADE DOS PERFIS MAPEADOS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926516" y="4340001"/>
            <a:ext cx="8739873" cy="2965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5"/>
              </a:lnSpc>
            </a:pPr>
            <a:r>
              <a:rPr lang="en-US" sz="3170" b="true">
                <a:solidFill>
                  <a:srgbClr val="F2EBD7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Cluster D — Perfil Tradicional</a:t>
            </a:r>
          </a:p>
          <a:p>
            <a:pPr algn="l">
              <a:lnSpc>
                <a:spcPts val="4755"/>
              </a:lnSpc>
            </a:pPr>
          </a:p>
          <a:p>
            <a:pPr algn="l">
              <a:lnSpc>
                <a:spcPts val="4755"/>
              </a:lnSpc>
            </a:pPr>
            <a:r>
              <a:rPr lang="en-US" sz="317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Formato simétrico e equilibrado em quase todas as variáveis com uma pequena redução em anos de estudo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36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24987" y="1484351"/>
            <a:ext cx="10838025" cy="8302265"/>
          </a:xfrm>
          <a:custGeom>
            <a:avLst/>
            <a:gdLst/>
            <a:ahLst/>
            <a:cxnLst/>
            <a:rect r="r" b="b" t="t" l="l"/>
            <a:pathLst>
              <a:path h="8302265" w="10838025">
                <a:moveTo>
                  <a:pt x="0" y="0"/>
                </a:moveTo>
                <a:lnTo>
                  <a:pt x="10838026" y="0"/>
                </a:lnTo>
                <a:lnTo>
                  <a:pt x="10838026" y="8302266"/>
                </a:lnTo>
                <a:lnTo>
                  <a:pt x="0" y="83022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80627" y="291938"/>
            <a:ext cx="14077142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60"/>
              </a:lnSpc>
              <a:spcBef>
                <a:spcPct val="0"/>
              </a:spcBef>
            </a:pPr>
            <a:r>
              <a:rPr lang="en-US" sz="6300" spc="365">
                <a:solidFill>
                  <a:srgbClr val="F2EBD7"/>
                </a:solidFill>
                <a:latin typeface="Lexend Deca"/>
                <a:ea typeface="Lexend Deca"/>
                <a:cs typeface="Lexend Deca"/>
                <a:sym typeface="Lexend Deca"/>
              </a:rPr>
              <a:t>DISTRIBUIÇÃO POR GÊNERO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400000">
            <a:off x="-63876" y="7600381"/>
            <a:ext cx="3526257" cy="846214"/>
          </a:xfrm>
          <a:custGeom>
            <a:avLst/>
            <a:gdLst/>
            <a:ahLst/>
            <a:cxnLst/>
            <a:rect r="r" b="b" t="t" l="l"/>
            <a:pathLst>
              <a:path h="846214" w="3526257">
                <a:moveTo>
                  <a:pt x="0" y="0"/>
                </a:moveTo>
                <a:lnTo>
                  <a:pt x="3526257" y="0"/>
                </a:lnTo>
                <a:lnTo>
                  <a:pt x="3526257" y="846214"/>
                </a:lnTo>
                <a:lnTo>
                  <a:pt x="0" y="8462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-56834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36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19967" y="1583304"/>
            <a:ext cx="10374998" cy="8434489"/>
          </a:xfrm>
          <a:custGeom>
            <a:avLst/>
            <a:gdLst/>
            <a:ahLst/>
            <a:cxnLst/>
            <a:rect r="r" b="b" t="t" l="l"/>
            <a:pathLst>
              <a:path h="8434489" w="10374998">
                <a:moveTo>
                  <a:pt x="0" y="0"/>
                </a:moveTo>
                <a:lnTo>
                  <a:pt x="10374998" y="0"/>
                </a:lnTo>
                <a:lnTo>
                  <a:pt x="10374998" y="8434489"/>
                </a:lnTo>
                <a:lnTo>
                  <a:pt x="0" y="84344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05669" y="266909"/>
            <a:ext cx="15353631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60"/>
              </a:lnSpc>
              <a:spcBef>
                <a:spcPct val="0"/>
              </a:spcBef>
            </a:pPr>
            <a:r>
              <a:rPr lang="en-US" sz="6300" spc="365">
                <a:solidFill>
                  <a:srgbClr val="F2EBD7"/>
                </a:solidFill>
                <a:latin typeface="Lexend Deca"/>
                <a:ea typeface="Lexend Deca"/>
                <a:cs typeface="Lexend Deca"/>
                <a:sym typeface="Lexend Deca"/>
              </a:rPr>
              <a:t>DISTRIBUIÇÃO POR COR / RAÇA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400000">
            <a:off x="15073064" y="2923325"/>
            <a:ext cx="3526257" cy="846214"/>
          </a:xfrm>
          <a:custGeom>
            <a:avLst/>
            <a:gdLst/>
            <a:ahLst/>
            <a:cxnLst/>
            <a:rect r="r" b="b" t="t" l="l"/>
            <a:pathLst>
              <a:path h="846214" w="3526257">
                <a:moveTo>
                  <a:pt x="0" y="0"/>
                </a:moveTo>
                <a:lnTo>
                  <a:pt x="3526257" y="0"/>
                </a:lnTo>
                <a:lnTo>
                  <a:pt x="3526257" y="846215"/>
                </a:lnTo>
                <a:lnTo>
                  <a:pt x="0" y="8462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-56834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36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69687" y="1604222"/>
            <a:ext cx="11948627" cy="8188436"/>
          </a:xfrm>
          <a:custGeom>
            <a:avLst/>
            <a:gdLst/>
            <a:ahLst/>
            <a:cxnLst/>
            <a:rect r="r" b="b" t="t" l="l"/>
            <a:pathLst>
              <a:path h="8188436" w="11948627">
                <a:moveTo>
                  <a:pt x="0" y="0"/>
                </a:moveTo>
                <a:lnTo>
                  <a:pt x="11948626" y="0"/>
                </a:lnTo>
                <a:lnTo>
                  <a:pt x="11948626" y="8188435"/>
                </a:lnTo>
                <a:lnTo>
                  <a:pt x="0" y="81884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55377" y="266909"/>
            <a:ext cx="15603923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60"/>
              </a:lnSpc>
              <a:spcBef>
                <a:spcPct val="0"/>
              </a:spcBef>
            </a:pPr>
            <a:r>
              <a:rPr lang="en-US" sz="6300" spc="365">
                <a:solidFill>
                  <a:srgbClr val="F2EBD7"/>
                </a:solidFill>
                <a:latin typeface="Lexend Deca"/>
                <a:ea typeface="Lexend Deca"/>
                <a:cs typeface="Lexend Deca"/>
                <a:sym typeface="Lexend Deca"/>
              </a:rPr>
              <a:t>DISTRIBUIÇÃO POR ESTADO CIVIL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400000">
            <a:off x="-311321" y="2957264"/>
            <a:ext cx="3526257" cy="846214"/>
          </a:xfrm>
          <a:custGeom>
            <a:avLst/>
            <a:gdLst/>
            <a:ahLst/>
            <a:cxnLst/>
            <a:rect r="r" b="b" t="t" l="l"/>
            <a:pathLst>
              <a:path h="846214" w="3526257">
                <a:moveTo>
                  <a:pt x="0" y="0"/>
                </a:moveTo>
                <a:lnTo>
                  <a:pt x="3526257" y="0"/>
                </a:lnTo>
                <a:lnTo>
                  <a:pt x="3526257" y="846215"/>
                </a:lnTo>
                <a:lnTo>
                  <a:pt x="0" y="8462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-5683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5073064" y="7038461"/>
            <a:ext cx="3526257" cy="846214"/>
          </a:xfrm>
          <a:custGeom>
            <a:avLst/>
            <a:gdLst/>
            <a:ahLst/>
            <a:cxnLst/>
            <a:rect r="r" b="b" t="t" l="l"/>
            <a:pathLst>
              <a:path h="846214" w="3526257">
                <a:moveTo>
                  <a:pt x="0" y="0"/>
                </a:moveTo>
                <a:lnTo>
                  <a:pt x="3526257" y="0"/>
                </a:lnTo>
                <a:lnTo>
                  <a:pt x="3526257" y="846214"/>
                </a:lnTo>
                <a:lnTo>
                  <a:pt x="0" y="8462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-56834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36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286653"/>
            <a:ext cx="18288000" cy="3856847"/>
          </a:xfrm>
          <a:custGeom>
            <a:avLst/>
            <a:gdLst/>
            <a:ahLst/>
            <a:cxnLst/>
            <a:rect r="r" b="b" t="t" l="l"/>
            <a:pathLst>
              <a:path h="3856847" w="18288000">
                <a:moveTo>
                  <a:pt x="0" y="0"/>
                </a:moveTo>
                <a:lnTo>
                  <a:pt x="18288000" y="0"/>
                </a:lnTo>
                <a:lnTo>
                  <a:pt x="18288000" y="3856847"/>
                </a:lnTo>
                <a:lnTo>
                  <a:pt x="0" y="38568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3694" y="190500"/>
            <a:ext cx="17800613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40"/>
              </a:lnSpc>
              <a:spcBef>
                <a:spcPct val="0"/>
              </a:spcBef>
            </a:pPr>
            <a:r>
              <a:rPr lang="en-US" sz="5533" spc="320">
                <a:solidFill>
                  <a:srgbClr val="FFC74B"/>
                </a:solidFill>
                <a:latin typeface="Lexend Deca"/>
                <a:ea typeface="Lexend Deca"/>
                <a:cs typeface="Lexend Deca"/>
                <a:sym typeface="Lexend Deca"/>
              </a:rPr>
              <a:t>PERFIL CATEGÓRICO E DEMOGRÁFICO (TSE)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15849" y="5391150"/>
            <a:ext cx="11676816" cy="474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5"/>
              </a:lnSpc>
              <a:spcBef>
                <a:spcPct val="0"/>
              </a:spcBef>
            </a:pPr>
            <a:r>
              <a:rPr lang="en-US" sz="3061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O Perfil Predominante para FAIXA_DESPESAS = Despesa Alta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24753" y="6122054"/>
            <a:ext cx="16634547" cy="4285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6224" indent="-298112" lvl="1">
              <a:lnSpc>
                <a:spcPts val="3396"/>
              </a:lnSpc>
              <a:buFont typeface="Arial"/>
              <a:buChar char="•"/>
            </a:pPr>
            <a:r>
              <a:rPr lang="en-US" sz="2761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Predominância Partidária: Alta concentração de candidatos filiados ao PL (SG_PARTIDO = PL) nos maiores volumes de despesas contratadas.</a:t>
            </a:r>
          </a:p>
          <a:p>
            <a:pPr algn="l">
              <a:lnSpc>
                <a:spcPts val="3396"/>
              </a:lnSpc>
            </a:pPr>
          </a:p>
          <a:p>
            <a:pPr algn="l">
              <a:lnSpc>
                <a:spcPts val="3396"/>
              </a:lnSpc>
            </a:pPr>
            <a:r>
              <a:rPr lang="en-US" sz="2761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   </a:t>
            </a:r>
            <a:r>
              <a:rPr lang="en-US" sz="2761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Perfil Sociodemográfico Predominante:</a:t>
            </a:r>
          </a:p>
          <a:p>
            <a:pPr algn="l">
              <a:lnSpc>
                <a:spcPts val="3396"/>
              </a:lnSpc>
            </a:pPr>
          </a:p>
          <a:p>
            <a:pPr algn="l" marL="596224" indent="-298112" lvl="1">
              <a:lnSpc>
                <a:spcPts val="3396"/>
              </a:lnSpc>
              <a:buFont typeface="Arial"/>
              <a:buChar char="•"/>
            </a:pPr>
            <a:r>
              <a:rPr lang="en-US" sz="2761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Gênero: Homens (DS_GENERO = MASCULINO)</a:t>
            </a:r>
          </a:p>
          <a:p>
            <a:pPr algn="l" marL="596224" indent="-298112" lvl="1">
              <a:lnSpc>
                <a:spcPts val="3396"/>
              </a:lnSpc>
              <a:buFont typeface="Arial"/>
              <a:buChar char="•"/>
            </a:pPr>
            <a:r>
              <a:rPr lang="en-US" sz="2761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Raça/Cor: Branca (DS_COR_RACA = BRANCA)</a:t>
            </a:r>
          </a:p>
          <a:p>
            <a:pPr algn="l" marL="596224" indent="-298112" lvl="1">
              <a:lnSpc>
                <a:spcPts val="3396"/>
              </a:lnSpc>
              <a:buFont typeface="Arial"/>
              <a:buChar char="•"/>
            </a:pPr>
            <a:r>
              <a:rPr lang="en-US" sz="2761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Estado Civil: Casados (DS_ESTADO_CIVIL = CASADO(A))</a:t>
            </a:r>
          </a:p>
          <a:p>
            <a:pPr algn="l" marL="596224" indent="-298112" lvl="1">
              <a:lnSpc>
                <a:spcPts val="3396"/>
              </a:lnSpc>
              <a:buFont typeface="Arial"/>
              <a:buChar char="•"/>
            </a:pPr>
            <a:r>
              <a:rPr lang="en-US" sz="2761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Escolaridade: Ensino Superior Completo (DS_GRAU_INSTRUCAO = SUPERIOR COMPLETO)</a:t>
            </a:r>
          </a:p>
          <a:p>
            <a:pPr algn="l">
              <a:lnSpc>
                <a:spcPts val="3396"/>
              </a:lnSpc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36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4393" y="1028700"/>
            <a:ext cx="17579213" cy="9258300"/>
          </a:xfrm>
          <a:custGeom>
            <a:avLst/>
            <a:gdLst/>
            <a:ahLst/>
            <a:cxnLst/>
            <a:rect r="r" b="b" t="t" l="l"/>
            <a:pathLst>
              <a:path h="9258300" w="17579213">
                <a:moveTo>
                  <a:pt x="0" y="0"/>
                </a:moveTo>
                <a:lnTo>
                  <a:pt x="17579214" y="0"/>
                </a:lnTo>
                <a:lnTo>
                  <a:pt x="1757921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1307" y="211358"/>
            <a:ext cx="17664203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500" spc="203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REGRAS DE ASSOCIAÇÃO COM APRIORI → ANTECEDENTE CLUSTER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36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5835" y="1028700"/>
            <a:ext cx="15156329" cy="9369901"/>
          </a:xfrm>
          <a:custGeom>
            <a:avLst/>
            <a:gdLst/>
            <a:ahLst/>
            <a:cxnLst/>
            <a:rect r="r" b="b" t="t" l="l"/>
            <a:pathLst>
              <a:path h="9369901" w="15156329">
                <a:moveTo>
                  <a:pt x="0" y="0"/>
                </a:moveTo>
                <a:lnTo>
                  <a:pt x="15156330" y="0"/>
                </a:lnTo>
                <a:lnTo>
                  <a:pt x="15156330" y="9369901"/>
                </a:lnTo>
                <a:lnTo>
                  <a:pt x="0" y="93699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1898" y="264780"/>
            <a:ext cx="17664203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500" spc="203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REGRAS DE ASSOCIAÇÃO COM APRIORI → CONSEQUENTE CLUSTER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36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7262" y="417629"/>
            <a:ext cx="17887575" cy="9480415"/>
          </a:xfrm>
          <a:custGeom>
            <a:avLst/>
            <a:gdLst/>
            <a:ahLst/>
            <a:cxnLst/>
            <a:rect r="r" b="b" t="t" l="l"/>
            <a:pathLst>
              <a:path h="9480415" w="17887575">
                <a:moveTo>
                  <a:pt x="0" y="0"/>
                </a:moveTo>
                <a:lnTo>
                  <a:pt x="17887574" y="0"/>
                </a:lnTo>
                <a:lnTo>
                  <a:pt x="17887574" y="9480414"/>
                </a:lnTo>
                <a:lnTo>
                  <a:pt x="0" y="94804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36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5808" y="299807"/>
            <a:ext cx="17818021" cy="9677413"/>
          </a:xfrm>
          <a:custGeom>
            <a:avLst/>
            <a:gdLst/>
            <a:ahLst/>
            <a:cxnLst/>
            <a:rect r="r" b="b" t="t" l="l"/>
            <a:pathLst>
              <a:path h="9677413" w="17818021">
                <a:moveTo>
                  <a:pt x="0" y="0"/>
                </a:moveTo>
                <a:lnTo>
                  <a:pt x="17818021" y="0"/>
                </a:lnTo>
                <a:lnTo>
                  <a:pt x="17818021" y="9677413"/>
                </a:lnTo>
                <a:lnTo>
                  <a:pt x="0" y="96774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36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2466" y="373978"/>
            <a:ext cx="17555757" cy="9545943"/>
          </a:xfrm>
          <a:custGeom>
            <a:avLst/>
            <a:gdLst/>
            <a:ahLst/>
            <a:cxnLst/>
            <a:rect r="r" b="b" t="t" l="l"/>
            <a:pathLst>
              <a:path h="9545943" w="17555757">
                <a:moveTo>
                  <a:pt x="0" y="0"/>
                </a:moveTo>
                <a:lnTo>
                  <a:pt x="17555757" y="0"/>
                </a:lnTo>
                <a:lnTo>
                  <a:pt x="17555757" y="9545943"/>
                </a:lnTo>
                <a:lnTo>
                  <a:pt x="0" y="95459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36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383" y="262436"/>
            <a:ext cx="17924541" cy="9531381"/>
          </a:xfrm>
          <a:custGeom>
            <a:avLst/>
            <a:gdLst/>
            <a:ahLst/>
            <a:cxnLst/>
            <a:rect r="r" b="b" t="t" l="l"/>
            <a:pathLst>
              <a:path h="9531381" w="17924541">
                <a:moveTo>
                  <a:pt x="0" y="0"/>
                </a:moveTo>
                <a:lnTo>
                  <a:pt x="17924541" y="0"/>
                </a:lnTo>
                <a:lnTo>
                  <a:pt x="17924541" y="9531381"/>
                </a:lnTo>
                <a:lnTo>
                  <a:pt x="0" y="95313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81" r="0" b="-481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36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92605" y="132663"/>
            <a:ext cx="16554967" cy="9932980"/>
          </a:xfrm>
          <a:custGeom>
            <a:avLst/>
            <a:gdLst/>
            <a:ahLst/>
            <a:cxnLst/>
            <a:rect r="r" b="b" t="t" l="l"/>
            <a:pathLst>
              <a:path h="9932980" w="16554967">
                <a:moveTo>
                  <a:pt x="0" y="0"/>
                </a:moveTo>
                <a:lnTo>
                  <a:pt x="16554968" y="0"/>
                </a:lnTo>
                <a:lnTo>
                  <a:pt x="16554968" y="9932981"/>
                </a:lnTo>
                <a:lnTo>
                  <a:pt x="0" y="99329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36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0275" y="563993"/>
            <a:ext cx="17678589" cy="9214964"/>
          </a:xfrm>
          <a:custGeom>
            <a:avLst/>
            <a:gdLst/>
            <a:ahLst/>
            <a:cxnLst/>
            <a:rect r="r" b="b" t="t" l="l"/>
            <a:pathLst>
              <a:path h="9214964" w="17678589">
                <a:moveTo>
                  <a:pt x="0" y="0"/>
                </a:moveTo>
                <a:lnTo>
                  <a:pt x="17678589" y="0"/>
                </a:lnTo>
                <a:lnTo>
                  <a:pt x="17678589" y="9214964"/>
                </a:lnTo>
                <a:lnTo>
                  <a:pt x="0" y="92149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36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794184" y="9239250"/>
            <a:ext cx="10512698" cy="9525"/>
          </a:xfrm>
          <a:prstGeom prst="line">
            <a:avLst/>
          </a:prstGeom>
          <a:ln cap="rnd" w="95250">
            <a:solidFill>
              <a:srgbClr val="FFC74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990685" y="962025"/>
            <a:ext cx="10708149" cy="19050"/>
          </a:xfrm>
          <a:prstGeom prst="line">
            <a:avLst/>
          </a:prstGeom>
          <a:ln cap="rnd" w="95250">
            <a:solidFill>
              <a:srgbClr val="FFC74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17254494" y="7126927"/>
            <a:ext cx="0" cy="2131373"/>
          </a:xfrm>
          <a:prstGeom prst="line">
            <a:avLst/>
          </a:prstGeom>
          <a:ln cap="rnd" w="95250">
            <a:solidFill>
              <a:srgbClr val="FFC74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5400000">
            <a:off x="15139860" y="5215145"/>
            <a:ext cx="3526257" cy="807787"/>
          </a:xfrm>
          <a:custGeom>
            <a:avLst/>
            <a:gdLst/>
            <a:ahLst/>
            <a:cxnLst/>
            <a:rect r="r" b="b" t="t" l="l"/>
            <a:pathLst>
              <a:path h="807787" w="3526257">
                <a:moveTo>
                  <a:pt x="0" y="0"/>
                </a:moveTo>
                <a:lnTo>
                  <a:pt x="3526257" y="0"/>
                </a:lnTo>
                <a:lnTo>
                  <a:pt x="3526257" y="807787"/>
                </a:lnTo>
                <a:lnTo>
                  <a:pt x="0" y="8077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64295"/>
            </a:stretch>
          </a:blipFill>
        </p:spPr>
      </p:sp>
      <p:sp>
        <p:nvSpPr>
          <p:cNvPr name="AutoShape 6" id="6"/>
          <p:cNvSpPr/>
          <p:nvPr/>
        </p:nvSpPr>
        <p:spPr>
          <a:xfrm flipV="true">
            <a:off x="1038225" y="942975"/>
            <a:ext cx="0" cy="2131373"/>
          </a:xfrm>
          <a:prstGeom prst="line">
            <a:avLst/>
          </a:prstGeom>
          <a:ln cap="rnd" w="95250">
            <a:solidFill>
              <a:srgbClr val="FFC74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-5400000">
            <a:off x="-358862" y="4131850"/>
            <a:ext cx="3526257" cy="846214"/>
          </a:xfrm>
          <a:custGeom>
            <a:avLst/>
            <a:gdLst/>
            <a:ahLst/>
            <a:cxnLst/>
            <a:rect r="r" b="b" t="t" l="l"/>
            <a:pathLst>
              <a:path h="846214" w="3526257">
                <a:moveTo>
                  <a:pt x="0" y="0"/>
                </a:moveTo>
                <a:lnTo>
                  <a:pt x="3526257" y="0"/>
                </a:lnTo>
                <a:lnTo>
                  <a:pt x="3526257" y="846214"/>
                </a:lnTo>
                <a:lnTo>
                  <a:pt x="0" y="846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56834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355384" y="1596705"/>
            <a:ext cx="3577233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  <a:spcBef>
                <a:spcPct val="0"/>
              </a:spcBef>
            </a:pPr>
            <a:r>
              <a:rPr lang="en-US" sz="4100" spc="237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CONCLUSÃO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824016" y="3017198"/>
            <a:ext cx="8639969" cy="531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Fizemos o trabalho que transformou dados públicos do TSE em uma base estruturada, onde analizamos o perfil patrimonial dos candidatos junto de outras características.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Uma das coisas que o</a:t>
            </a:r>
            <a:r>
              <a:rPr lang="en-US" sz="3000">
                <a:solidFill>
                  <a:srgbClr val="F2EBD7"/>
                </a:solidFill>
                <a:latin typeface="Clear Sans"/>
                <a:ea typeface="Clear Sans"/>
                <a:cs typeface="Clear Sans"/>
                <a:sym typeface="Clear Sans"/>
              </a:rPr>
              <a:t>s dados mostram é uma tendência de partidos mais estabelecidos como o PL ou PT tendem a concentrar mais candidatos da elite financeira e eleitoral, principalmente se tiverem uma alto grau de instrução.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DAHWnId0FfE</dc:identifier>
  <dcterms:modified xsi:type="dcterms:W3CDTF">2011-08-01T06:04:30Z</dcterms:modified>
  <cp:revision>1</cp:revision>
  <dc:title>Texto do seu parágrafo</dc:title>
</cp:coreProperties>
</file>